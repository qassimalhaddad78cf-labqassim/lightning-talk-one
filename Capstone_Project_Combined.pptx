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457200" y="822960"/>
            <a:ext cx="8229600" cy="73152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Data Science Capstone Project</a:t>
            </a:r>
            <a:endParaRPr lang="en-US" sz="4400" dirty="0"/>
          </a:p>
        </p:txBody>
      </p:sp>
      <p:sp>
        <p:nvSpPr>
          <p:cNvPr id="3" name="Text 1"/>
          <p:cNvSpPr/>
          <p:nvPr/>
        </p:nvSpPr>
        <p:spPr>
          <a:xfrm>
            <a:off x="457200" y="1645920"/>
            <a:ext cx="8229600" cy="457200"/>
          </a:xfrm>
          <a:prstGeom prst="rect">
            <a:avLst/>
          </a:prstGeom>
          <a:noFill/>
          <a:ln/>
        </p:spPr>
        <p:txBody>
          <a:bodyPr wrap="square" rtlCol="0" anchor="ctr"/>
          <a:lstStyle/>
          <a:p>
            <a:pPr algn="ctr" indent="0" marL="0">
              <a:buNone/>
            </a:pPr>
            <a:r>
              <a:rPr lang="en-US" sz="2200" dirty="0">
                <a:solidFill>
                  <a:srgbClr val="FBC02D"/>
                </a:solidFill>
                <a:latin typeface="Calibri" pitchFamily="34" charset="0"/>
                <a:ea typeface="Calibri" pitchFamily="34" charset="-122"/>
                <a:cs typeface="Calibri" pitchFamily="34" charset="-120"/>
              </a:rPr>
              <a:t>2 Problem Statements - EDA &amp; Analysis</a:t>
            </a:r>
            <a:endParaRPr lang="en-US" sz="2200" dirty="0"/>
          </a:p>
        </p:txBody>
      </p:sp>
      <p:sp>
        <p:nvSpPr>
          <p:cNvPr id="4" name="Shape 2"/>
          <p:cNvSpPr/>
          <p:nvPr/>
        </p:nvSpPr>
        <p:spPr>
          <a:xfrm>
            <a:off x="731520" y="2377440"/>
            <a:ext cx="7680960" cy="3291840"/>
          </a:xfrm>
          <a:prstGeom prst="rect">
            <a:avLst/>
          </a:prstGeom>
          <a:solidFill>
            <a:srgbClr val="FFFFFF"/>
          </a:solidFill>
          <a:ln w="25400">
            <a:solidFill>
              <a:srgbClr val="2E7D32"/>
            </a:solidFill>
            <a:prstDash val="solid"/>
          </a:ln>
        </p:spPr>
      </p:sp>
      <p:sp>
        <p:nvSpPr>
          <p:cNvPr id="5" name="Text 3"/>
          <p:cNvSpPr/>
          <p:nvPr/>
        </p:nvSpPr>
        <p:spPr>
          <a:xfrm>
            <a:off x="1097280" y="2560320"/>
            <a:ext cx="6949440" cy="365760"/>
          </a:xfrm>
          <a:prstGeom prst="rect">
            <a:avLst/>
          </a:prstGeom>
          <a:noFill/>
          <a:ln/>
        </p:spPr>
        <p:txBody>
          <a:bodyPr wrap="square" rtlCol="0" anchor="ctr"/>
          <a:lstStyle/>
          <a:p>
            <a:pPr indent="0" marL="0">
              <a:buNone/>
            </a:pPr>
            <a:r>
              <a:rPr lang="en-US" sz="1500" b="1" dirty="0">
                <a:solidFill>
                  <a:srgbClr val="2E7D32"/>
                </a:solidFill>
                <a:latin typeface="Calibri" pitchFamily="34" charset="0"/>
                <a:ea typeface="Calibri" pitchFamily="34" charset="-122"/>
                <a:cs typeface="Calibri" pitchFamily="34" charset="-120"/>
              </a:rPr>
              <a:t>Project Overview:</a:t>
            </a:r>
            <a:endParaRPr lang="en-US" sz="1500" dirty="0"/>
          </a:p>
        </p:txBody>
      </p:sp>
      <p:sp>
        <p:nvSpPr>
          <p:cNvPr id="6" name="Text 4"/>
          <p:cNvSpPr/>
          <p:nvPr/>
        </p:nvSpPr>
        <p:spPr>
          <a:xfrm>
            <a:off x="1371600" y="3017520"/>
            <a:ext cx="6583680" cy="320040"/>
          </a:xfrm>
          <a:prstGeom prst="rect">
            <a:avLst/>
          </a:prstGeom>
          <a:noFill/>
          <a:ln/>
        </p:spPr>
        <p:txBody>
          <a:bodyPr wrap="square" rtlCol="0" anchor="ctr"/>
          <a:lstStyle/>
          <a:p>
            <a:pPr indent="0" marL="0">
              <a:buNone/>
            </a:pPr>
            <a:r>
              <a:rPr lang="en-US" sz="1200" dirty="0">
                <a:solidFill>
                  <a:srgbClr val="212121"/>
                </a:solidFill>
                <a:latin typeface="Calibri" pitchFamily="34" charset="0"/>
                <a:ea typeface="Calibri" pitchFamily="34" charset="-122"/>
                <a:cs typeface="Calibri" pitchFamily="34" charset="-120"/>
              </a:rPr>
              <a:t>Dataset 1: FIFA Football Players - SoFIFA (17,954 players)</a:t>
            </a:r>
            <a:endParaRPr lang="en-US" sz="1200" dirty="0"/>
          </a:p>
        </p:txBody>
      </p:sp>
      <p:sp>
        <p:nvSpPr>
          <p:cNvPr id="7" name="Text 5"/>
          <p:cNvSpPr/>
          <p:nvPr/>
        </p:nvSpPr>
        <p:spPr>
          <a:xfrm>
            <a:off x="1371600" y="3419856"/>
            <a:ext cx="6583680" cy="320040"/>
          </a:xfrm>
          <a:prstGeom prst="rect">
            <a:avLst/>
          </a:prstGeom>
          <a:noFill/>
          <a:ln/>
        </p:spPr>
        <p:txBody>
          <a:bodyPr wrap="square" rtlCol="0" anchor="ctr"/>
          <a:lstStyle/>
          <a:p>
            <a:pPr indent="0" marL="0">
              <a:buNone/>
            </a:pPr>
            <a:r>
              <a:rPr lang="en-US" sz="1200" dirty="0">
                <a:solidFill>
                  <a:srgbClr val="212121"/>
                </a:solidFill>
                <a:latin typeface="Calibri" pitchFamily="34" charset="0"/>
                <a:ea typeface="Calibri" pitchFamily="34" charset="-122"/>
                <a:cs typeface="Calibri" pitchFamily="34" charset="-120"/>
              </a:rPr>
              <a:t>Dataset 2: Credit Card Default - UCI Repository (30,000 clients)</a:t>
            </a:r>
            <a:endParaRPr lang="en-US" sz="1200" dirty="0"/>
          </a:p>
        </p:txBody>
      </p:sp>
      <p:sp>
        <p:nvSpPr>
          <p:cNvPr id="8" name="Text 6"/>
          <p:cNvSpPr/>
          <p:nvPr/>
        </p:nvSpPr>
        <p:spPr>
          <a:xfrm>
            <a:off x="1371600" y="3822192"/>
            <a:ext cx="6583680" cy="320040"/>
          </a:xfrm>
          <a:prstGeom prst="rect">
            <a:avLst/>
          </a:prstGeom>
          <a:noFill/>
          <a:ln/>
        </p:spPr>
        <p:txBody>
          <a:bodyPr wrap="square" rtlCol="0" anchor="ctr"/>
          <a:lstStyle/>
          <a:p>
            <a:pPr indent="0" marL="0">
              <a:buNone/>
            </a:pPr>
            <a:r>
              <a:rPr lang="en-US" sz="1200" dirty="0">
                <a:solidFill>
                  <a:srgbClr val="212121"/>
                </a:solidFill>
                <a:latin typeface="Calibri" pitchFamily="34" charset="0"/>
                <a:ea typeface="Calibri" pitchFamily="34" charset="-122"/>
                <a:cs typeface="Calibri" pitchFamily="34" charset="-120"/>
              </a:rPr>
              <a:t>0 Missing Values after cleaning | 100% Data Quality</a:t>
            </a:r>
            <a:endParaRPr lang="en-US" sz="1200" dirty="0"/>
          </a:p>
        </p:txBody>
      </p:sp>
      <p:sp>
        <p:nvSpPr>
          <p:cNvPr id="9" name="Text 7"/>
          <p:cNvSpPr/>
          <p:nvPr/>
        </p:nvSpPr>
        <p:spPr>
          <a:xfrm>
            <a:off x="1371600" y="4224528"/>
            <a:ext cx="6583680" cy="320040"/>
          </a:xfrm>
          <a:prstGeom prst="rect">
            <a:avLst/>
          </a:prstGeom>
          <a:noFill/>
          <a:ln/>
        </p:spPr>
        <p:txBody>
          <a:bodyPr wrap="square" rtlCol="0" anchor="ctr"/>
          <a:lstStyle/>
          <a:p>
            <a:pPr indent="0" marL="0">
              <a:buNone/>
            </a:pPr>
            <a:r>
              <a:rPr lang="en-US" sz="1200" dirty="0">
                <a:solidFill>
                  <a:srgbClr val="212121"/>
                </a:solidFill>
                <a:latin typeface="Calibri" pitchFamily="34" charset="0"/>
                <a:ea typeface="Calibri" pitchFamily="34" charset="-122"/>
                <a:cs typeface="Calibri" pitchFamily="34" charset="-120"/>
              </a:rPr>
              <a:t>Problem 1: Regression (Predict Player Overall Rating)</a:t>
            </a:r>
            <a:endParaRPr lang="en-US" sz="1200" dirty="0"/>
          </a:p>
        </p:txBody>
      </p:sp>
      <p:sp>
        <p:nvSpPr>
          <p:cNvPr id="10" name="Text 8"/>
          <p:cNvSpPr/>
          <p:nvPr/>
        </p:nvSpPr>
        <p:spPr>
          <a:xfrm>
            <a:off x="1371600" y="4626864"/>
            <a:ext cx="6583680" cy="320040"/>
          </a:xfrm>
          <a:prstGeom prst="rect">
            <a:avLst/>
          </a:prstGeom>
          <a:noFill/>
          <a:ln/>
        </p:spPr>
        <p:txBody>
          <a:bodyPr wrap="square" rtlCol="0" anchor="ctr"/>
          <a:lstStyle/>
          <a:p>
            <a:pPr indent="0" marL="0">
              <a:buNone/>
            </a:pPr>
            <a:r>
              <a:rPr lang="en-US" sz="1200" dirty="0">
                <a:solidFill>
                  <a:srgbClr val="212121"/>
                </a:solidFill>
                <a:latin typeface="Calibri" pitchFamily="34" charset="0"/>
                <a:ea typeface="Calibri" pitchFamily="34" charset="-122"/>
                <a:cs typeface="Calibri" pitchFamily="34" charset="-120"/>
              </a:rPr>
              <a:t>Problem 2: Binary Classification (Predict Default)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p:spPr>
      </p:sp>
      <p:sp>
        <p:nvSpPr>
          <p:cNvPr id="3" name="Text 1"/>
          <p:cNvSpPr/>
          <p:nvPr/>
        </p:nvSpPr>
        <p:spPr>
          <a:xfrm>
            <a:off x="457200" y="18288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Problem 1: FIFA Player Overall Rating Prediction</a:t>
            </a:r>
            <a:endParaRPr lang="en-US" sz="3000" dirty="0"/>
          </a:p>
        </p:txBody>
      </p:sp>
      <p:sp>
        <p:nvSpPr>
          <p:cNvPr id="4" name="Shape 2"/>
          <p:cNvSpPr/>
          <p:nvPr/>
        </p:nvSpPr>
        <p:spPr>
          <a:xfrm>
            <a:off x="457200" y="1097280"/>
            <a:ext cx="8229600" cy="1920240"/>
          </a:xfrm>
          <a:prstGeom prst="rect">
            <a:avLst/>
          </a:prstGeom>
          <a:solidFill>
            <a:srgbClr val="E8F5E9"/>
          </a:solidFill>
          <a:ln w="25400">
            <a:solidFill>
              <a:srgbClr val="2E7D32"/>
            </a:solidFill>
            <a:prstDash val="solid"/>
          </a:ln>
        </p:spPr>
      </p:sp>
      <p:sp>
        <p:nvSpPr>
          <p:cNvPr id="5" name="Text 3"/>
          <p:cNvSpPr/>
          <p:nvPr/>
        </p:nvSpPr>
        <p:spPr>
          <a:xfrm>
            <a:off x="640080" y="1234440"/>
            <a:ext cx="7863840" cy="1645920"/>
          </a:xfrm>
          <a:prstGeom prst="rect">
            <a:avLst/>
          </a:prstGeom>
          <a:noFill/>
          <a:ln/>
        </p:spPr>
        <p:txBody>
          <a:bodyPr wrap="square" rtlCol="0" anchor="ctr"/>
          <a:lstStyle/>
          <a:p>
            <a:pPr indent="0" marL="0">
              <a:buNone/>
            </a:pPr>
            <a:r>
              <a:rPr lang="en-US" sz="1150" dirty="0">
                <a:solidFill>
                  <a:srgbClr val="2E7D32"/>
                </a:solidFill>
                <a:latin typeface="Calibri" pitchFamily="34" charset="0"/>
                <a:ea typeface="Calibri" pitchFamily="34" charset="-122"/>
                <a:cs typeface="Calibri" pitchFamily="34" charset="-120"/>
              </a:rPr>
              <a:t>Football clubs, agents, and analysts spend significant resources manually evaluating player quality, a process that is subjective and inconsistent. FIFA overall ratings provide a standardized benchmark, but the factors driving these ratings are complex interactions between dozens of physical and technical attributes. By applying regression modeling to 17,954 players with 37 clean skill features, we can build a model that accurately predicts player overall ratings. This enables clubs to identify undervalued players in the transfer market, support data-driven scouting, and benchmark squad quality objectively.</a:t>
            </a:r>
            <a:endParaRPr lang="en-US" sz="1150" dirty="0"/>
          </a:p>
        </p:txBody>
      </p:sp>
      <p:sp>
        <p:nvSpPr>
          <p:cNvPr id="6" name="Text 4"/>
          <p:cNvSpPr/>
          <p:nvPr/>
        </p:nvSpPr>
        <p:spPr>
          <a:xfrm>
            <a:off x="640080" y="3154680"/>
            <a:ext cx="7863840" cy="274320"/>
          </a:xfrm>
          <a:prstGeom prst="rect">
            <a:avLst/>
          </a:prstGeom>
          <a:noFill/>
          <a:ln/>
        </p:spPr>
        <p:txBody>
          <a:bodyPr wrap="square" rtlCol="0" anchor="ctr"/>
          <a:lstStyle/>
          <a:p>
            <a:pPr indent="0" marL="0">
              <a:buNone/>
            </a:pPr>
            <a:r>
              <a:rPr lang="en-US" sz="1300" b="1" dirty="0">
                <a:solidFill>
                  <a:srgbClr val="212121"/>
                </a:solidFill>
                <a:latin typeface="Calibri" pitchFamily="34" charset="0"/>
                <a:ea typeface="Calibri" pitchFamily="34" charset="-122"/>
                <a:cs typeface="Calibri" pitchFamily="34" charset="-120"/>
              </a:rPr>
              <a:t>Project Goals:</a:t>
            </a:r>
            <a:endParaRPr lang="en-US" sz="1300" dirty="0"/>
          </a:p>
        </p:txBody>
      </p:sp>
      <p:sp>
        <p:nvSpPr>
          <p:cNvPr id="7" name="Text 5"/>
          <p:cNvSpPr/>
          <p:nvPr/>
        </p:nvSpPr>
        <p:spPr>
          <a:xfrm>
            <a:off x="822960" y="3520440"/>
            <a:ext cx="7772400" cy="301752"/>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Build regression model to predict player overall rating (continuous: 47–94)</a:t>
            </a:r>
            <a:endParaRPr lang="en-US" sz="1100" dirty="0"/>
          </a:p>
        </p:txBody>
      </p:sp>
      <p:sp>
        <p:nvSpPr>
          <p:cNvPr id="8" name="Text 6"/>
          <p:cNvSpPr/>
          <p:nvPr/>
        </p:nvSpPr>
        <p:spPr>
          <a:xfrm>
            <a:off x="822960" y="3913632"/>
            <a:ext cx="7772400" cy="301752"/>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Use 37 skill features: reactions, composure, passing, shooting, defending, physical</a:t>
            </a:r>
            <a:endParaRPr lang="en-US" sz="1100" dirty="0"/>
          </a:p>
        </p:txBody>
      </p:sp>
      <p:sp>
        <p:nvSpPr>
          <p:cNvPr id="9" name="Text 7"/>
          <p:cNvSpPr/>
          <p:nvPr/>
        </p:nvSpPr>
        <p:spPr>
          <a:xfrm>
            <a:off x="822960" y="4306824"/>
            <a:ext cx="7772400" cy="301752"/>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Identify the most influential attributes driving player ratings</a:t>
            </a:r>
            <a:endParaRPr lang="en-US" sz="1100" dirty="0"/>
          </a:p>
        </p:txBody>
      </p:sp>
      <p:sp>
        <p:nvSpPr>
          <p:cNvPr id="10" name="Text 8"/>
          <p:cNvSpPr/>
          <p:nvPr/>
        </p:nvSpPr>
        <p:spPr>
          <a:xfrm>
            <a:off x="822960" y="4700016"/>
            <a:ext cx="7772400" cy="301752"/>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Enable data-driven player scouting and transfer market analysis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p:spPr>
      </p:sp>
      <p:sp>
        <p:nvSpPr>
          <p:cNvPr id="3" name="Text 1"/>
          <p:cNvSpPr/>
          <p:nvPr/>
        </p:nvSpPr>
        <p:spPr>
          <a:xfrm>
            <a:off x="457200" y="18288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Problem 1: EDA Findings</a:t>
            </a:r>
            <a:endParaRPr lang="en-US" sz="3000" dirty="0"/>
          </a:p>
        </p:txBody>
      </p:sp>
      <p:sp>
        <p:nvSpPr>
          <p:cNvPr id="4" name="Shape 2"/>
          <p:cNvSpPr/>
          <p:nvPr/>
        </p:nvSpPr>
        <p:spPr>
          <a:xfrm>
            <a:off x="457200" y="1097280"/>
            <a:ext cx="3931920" cy="2743200"/>
          </a:xfrm>
          <a:prstGeom prst="rect">
            <a:avLst/>
          </a:prstGeom>
          <a:solidFill>
            <a:srgbClr val="F5F5F5"/>
          </a:solidFill>
          <a:ln w="12700">
            <a:solidFill>
              <a:srgbClr val="2E7D32"/>
            </a:solidFill>
            <a:prstDash val="solid"/>
          </a:ln>
        </p:spPr>
      </p:sp>
      <p:sp>
        <p:nvSpPr>
          <p:cNvPr id="5" name="Text 3"/>
          <p:cNvSpPr/>
          <p:nvPr/>
        </p:nvSpPr>
        <p:spPr>
          <a:xfrm>
            <a:off x="640080" y="1280160"/>
            <a:ext cx="3566160" cy="274320"/>
          </a:xfrm>
          <a:prstGeom prst="rect">
            <a:avLst/>
          </a:prstGeom>
          <a:noFill/>
          <a:ln/>
        </p:spPr>
        <p:txBody>
          <a:bodyPr wrap="square"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Target Distribution:</a:t>
            </a:r>
            <a:endParaRPr lang="en-US" sz="1200" dirty="0"/>
          </a:p>
        </p:txBody>
      </p:sp>
      <p:sp>
        <p:nvSpPr>
          <p:cNvPr id="6" name="Text 4"/>
          <p:cNvSpPr/>
          <p:nvPr/>
        </p:nvSpPr>
        <p:spPr>
          <a:xfrm>
            <a:off x="914400" y="1691640"/>
            <a:ext cx="3291840" cy="347472"/>
          </a:xfrm>
          <a:prstGeom prst="rect">
            <a:avLst/>
          </a:prstGeom>
          <a:noFill/>
          <a:ln/>
        </p:spPr>
        <p:txBody>
          <a:bodyPr wrap="square" rtlCol="0" anchor="ctr"/>
          <a:lstStyle/>
          <a:p>
            <a:pPr indent="0" marL="0">
              <a:buNone/>
            </a:pPr>
            <a:r>
              <a:rPr lang="en-US" sz="1200" b="1" dirty="0">
                <a:solidFill>
                  <a:srgbClr val="212121"/>
                </a:solidFill>
                <a:latin typeface="Calibri" pitchFamily="34" charset="0"/>
                <a:ea typeface="Calibri" pitchFamily="34" charset="-122"/>
                <a:cs typeface="Calibri" pitchFamily="34" charset="-120"/>
              </a:rPr>
              <a:t>Min Rating: 47</a:t>
            </a:r>
            <a:endParaRPr lang="en-US" sz="1200" dirty="0"/>
          </a:p>
        </p:txBody>
      </p:sp>
      <p:sp>
        <p:nvSpPr>
          <p:cNvPr id="7" name="Text 5"/>
          <p:cNvSpPr/>
          <p:nvPr/>
        </p:nvSpPr>
        <p:spPr>
          <a:xfrm>
            <a:off x="914400" y="2148840"/>
            <a:ext cx="3291840" cy="347472"/>
          </a:xfrm>
          <a:prstGeom prst="rect">
            <a:avLst/>
          </a:prstGeom>
          <a:noFill/>
          <a:ln/>
        </p:spPr>
        <p:txBody>
          <a:bodyPr wrap="square" rtlCol="0" anchor="ctr"/>
          <a:lstStyle/>
          <a:p>
            <a:pPr indent="0" marL="0">
              <a:buNone/>
            </a:pPr>
            <a:r>
              <a:rPr lang="en-US" sz="1200" b="1" dirty="0">
                <a:solidFill>
                  <a:srgbClr val="212121"/>
                </a:solidFill>
                <a:latin typeface="Calibri" pitchFamily="34" charset="0"/>
                <a:ea typeface="Calibri" pitchFamily="34" charset="-122"/>
                <a:cs typeface="Calibri" pitchFamily="34" charset="-120"/>
              </a:rPr>
              <a:t>Mean Rating: 66.2</a:t>
            </a:r>
            <a:endParaRPr lang="en-US" sz="1200" dirty="0"/>
          </a:p>
        </p:txBody>
      </p:sp>
      <p:sp>
        <p:nvSpPr>
          <p:cNvPr id="8" name="Text 6"/>
          <p:cNvSpPr/>
          <p:nvPr/>
        </p:nvSpPr>
        <p:spPr>
          <a:xfrm>
            <a:off x="914400" y="2606040"/>
            <a:ext cx="3291840" cy="347472"/>
          </a:xfrm>
          <a:prstGeom prst="rect">
            <a:avLst/>
          </a:prstGeom>
          <a:noFill/>
          <a:ln/>
        </p:spPr>
        <p:txBody>
          <a:bodyPr wrap="square" rtlCol="0" anchor="ctr"/>
          <a:lstStyle/>
          <a:p>
            <a:pPr indent="0" marL="0">
              <a:buNone/>
            </a:pPr>
            <a:r>
              <a:rPr lang="en-US" sz="1200" b="1" dirty="0">
                <a:solidFill>
                  <a:srgbClr val="212121"/>
                </a:solidFill>
                <a:latin typeface="Calibri" pitchFamily="34" charset="0"/>
                <a:ea typeface="Calibri" pitchFamily="34" charset="-122"/>
                <a:cs typeface="Calibri" pitchFamily="34" charset="-120"/>
              </a:rPr>
              <a:t>Max Rating: 94</a:t>
            </a:r>
            <a:endParaRPr lang="en-US" sz="1200" dirty="0"/>
          </a:p>
        </p:txBody>
      </p:sp>
      <p:sp>
        <p:nvSpPr>
          <p:cNvPr id="9" name="Text 7"/>
          <p:cNvSpPr/>
          <p:nvPr/>
        </p:nvSpPr>
        <p:spPr>
          <a:xfrm>
            <a:off x="640080" y="3383280"/>
            <a:ext cx="3566160" cy="320040"/>
          </a:xfrm>
          <a:prstGeom prst="rect">
            <a:avLst/>
          </a:prstGeom>
          <a:noFill/>
          <a:ln/>
        </p:spPr>
        <p:txBody>
          <a:bodyPr wrap="square" rtlCol="0" anchor="ctr"/>
          <a:lstStyle/>
          <a:p>
            <a:pPr indent="0" marL="0">
              <a:buNone/>
            </a:pPr>
            <a:r>
              <a:rPr lang="en-US" sz="1000" i="1" dirty="0">
                <a:solidFill>
                  <a:srgbClr val="212121"/>
                </a:solidFill>
                <a:latin typeface="Calibri" pitchFamily="34" charset="0"/>
                <a:ea typeface="Calibri" pitchFamily="34" charset="-122"/>
                <a:cs typeface="Calibri" pitchFamily="34" charset="-120"/>
              </a:rPr>
              <a:t>right-skewed: most players rated 60-75</a:t>
            </a:r>
            <a:endParaRPr lang="en-US" sz="1000" dirty="0"/>
          </a:p>
        </p:txBody>
      </p:sp>
      <p:sp>
        <p:nvSpPr>
          <p:cNvPr id="10" name="Shape 8"/>
          <p:cNvSpPr/>
          <p:nvPr/>
        </p:nvSpPr>
        <p:spPr>
          <a:xfrm>
            <a:off x="4754880" y="1097280"/>
            <a:ext cx="3931920" cy="2743200"/>
          </a:xfrm>
          <a:prstGeom prst="rect">
            <a:avLst/>
          </a:prstGeom>
          <a:solidFill>
            <a:srgbClr val="F5F5F5"/>
          </a:solidFill>
          <a:ln w="12700">
            <a:solidFill>
              <a:srgbClr val="2E7D32"/>
            </a:solidFill>
            <a:prstDash val="solid"/>
          </a:ln>
        </p:spPr>
      </p:sp>
      <p:sp>
        <p:nvSpPr>
          <p:cNvPr id="11" name="Text 9"/>
          <p:cNvSpPr/>
          <p:nvPr/>
        </p:nvSpPr>
        <p:spPr>
          <a:xfrm>
            <a:off x="4937760" y="1280160"/>
            <a:ext cx="3566160" cy="274320"/>
          </a:xfrm>
          <a:prstGeom prst="rect">
            <a:avLst/>
          </a:prstGeom>
          <a:noFill/>
          <a:ln/>
        </p:spPr>
        <p:txBody>
          <a:bodyPr wrap="square"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Data Quality:</a:t>
            </a:r>
            <a:endParaRPr lang="en-US" sz="1200" dirty="0"/>
          </a:p>
        </p:txBody>
      </p:sp>
      <p:sp>
        <p:nvSpPr>
          <p:cNvPr id="12" name="Text 10"/>
          <p:cNvSpPr/>
          <p:nvPr/>
        </p:nvSpPr>
        <p:spPr>
          <a:xfrm>
            <a:off x="5120640" y="1691640"/>
            <a:ext cx="3383280" cy="320040"/>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17,954 players | 46 columns</a:t>
            </a:r>
            <a:endParaRPr lang="en-US" sz="1100" dirty="0"/>
          </a:p>
        </p:txBody>
      </p:sp>
      <p:sp>
        <p:nvSpPr>
          <p:cNvPr id="13" name="Text 11"/>
          <p:cNvSpPr/>
          <p:nvPr/>
        </p:nvSpPr>
        <p:spPr>
          <a:xfrm>
            <a:off x="5120640" y="2103120"/>
            <a:ext cx="3383280" cy="320040"/>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37 numerical skill features</a:t>
            </a:r>
            <a:endParaRPr lang="en-US" sz="1100" dirty="0"/>
          </a:p>
        </p:txBody>
      </p:sp>
      <p:sp>
        <p:nvSpPr>
          <p:cNvPr id="14" name="Text 12"/>
          <p:cNvSpPr/>
          <p:nvPr/>
        </p:nvSpPr>
        <p:spPr>
          <a:xfrm>
            <a:off x="5120640" y="2514600"/>
            <a:ext cx="3383280" cy="320040"/>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9 categorical features</a:t>
            </a:r>
            <a:endParaRPr lang="en-US" sz="1100" dirty="0"/>
          </a:p>
        </p:txBody>
      </p:sp>
      <p:sp>
        <p:nvSpPr>
          <p:cNvPr id="15" name="Text 13"/>
          <p:cNvSpPr/>
          <p:nvPr/>
        </p:nvSpPr>
        <p:spPr>
          <a:xfrm>
            <a:off x="5120640" y="2926080"/>
            <a:ext cx="3383280" cy="320040"/>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0 missing after cleaning</a:t>
            </a:r>
            <a:endParaRPr lang="en-US" sz="1100" dirty="0"/>
          </a:p>
        </p:txBody>
      </p:sp>
      <p:sp>
        <p:nvSpPr>
          <p:cNvPr id="16" name="Text 14"/>
          <p:cNvSpPr/>
          <p:nvPr/>
        </p:nvSpPr>
        <p:spPr>
          <a:xfrm>
            <a:off x="640080" y="4023360"/>
            <a:ext cx="2743200" cy="274320"/>
          </a:xfrm>
          <a:prstGeom prst="rect">
            <a:avLst/>
          </a:prstGeom>
          <a:noFill/>
          <a:ln/>
        </p:spPr>
        <p:txBody>
          <a:bodyPr wrap="square"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Missing Values:</a:t>
            </a:r>
            <a:endParaRPr lang="en-US" sz="1200" dirty="0"/>
          </a:p>
        </p:txBody>
      </p:sp>
      <p:sp>
        <p:nvSpPr>
          <p:cNvPr id="17" name="Text 15"/>
          <p:cNvSpPr/>
          <p:nvPr/>
        </p:nvSpPr>
        <p:spPr>
          <a:xfrm>
            <a:off x="3474720" y="4023360"/>
            <a:ext cx="5212080" cy="274320"/>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5 columns dropped (&gt;10% missing) | value_euro &amp; wage_euro median-imputed</a:t>
            </a:r>
            <a:endParaRPr lang="en-US" sz="1100" dirty="0"/>
          </a:p>
        </p:txBody>
      </p:sp>
      <p:sp>
        <p:nvSpPr>
          <p:cNvPr id="18" name="Text 16"/>
          <p:cNvSpPr/>
          <p:nvPr/>
        </p:nvSpPr>
        <p:spPr>
          <a:xfrm>
            <a:off x="640080" y="4434840"/>
            <a:ext cx="2743200" cy="274320"/>
          </a:xfrm>
          <a:prstGeom prst="rect">
            <a:avLst/>
          </a:prstGeom>
          <a:noFill/>
          <a:ln/>
        </p:spPr>
        <p:txBody>
          <a:bodyPr wrap="square"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Outliers:</a:t>
            </a:r>
            <a:endParaRPr lang="en-US" sz="1200" dirty="0"/>
          </a:p>
        </p:txBody>
      </p:sp>
      <p:sp>
        <p:nvSpPr>
          <p:cNvPr id="19" name="Text 17"/>
          <p:cNvSpPr/>
          <p:nvPr/>
        </p:nvSpPr>
        <p:spPr>
          <a:xfrm>
            <a:off x="3474720" y="4434840"/>
            <a:ext cx="5212080" cy="365760"/>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In value/wage - represent elite players (Messi, Ronaldo) - real data, not errors</a:t>
            </a:r>
            <a:endParaRPr lang="en-US" sz="1100" dirty="0"/>
          </a:p>
        </p:txBody>
      </p:sp>
      <p:sp>
        <p:nvSpPr>
          <p:cNvPr id="20" name="Text 18"/>
          <p:cNvSpPr/>
          <p:nvPr/>
        </p:nvSpPr>
        <p:spPr>
          <a:xfrm>
            <a:off x="640080" y="5074920"/>
            <a:ext cx="7863840" cy="32004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Top Predictors: reactions (0.86), composure (0.73), potential (0.65), short_passing (0.51)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p:spPr>
      </p:sp>
      <p:sp>
        <p:nvSpPr>
          <p:cNvPr id="3" name="Text 1"/>
          <p:cNvSpPr/>
          <p:nvPr/>
        </p:nvSpPr>
        <p:spPr>
          <a:xfrm>
            <a:off x="457200" y="18288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Problem 2: Credit Card Default Prediction</a:t>
            </a:r>
            <a:endParaRPr lang="en-US" sz="3000" dirty="0"/>
          </a:p>
        </p:txBody>
      </p:sp>
      <p:sp>
        <p:nvSpPr>
          <p:cNvPr id="4" name="Shape 2"/>
          <p:cNvSpPr/>
          <p:nvPr/>
        </p:nvSpPr>
        <p:spPr>
          <a:xfrm>
            <a:off x="457200" y="1097280"/>
            <a:ext cx="8229600" cy="1920240"/>
          </a:xfrm>
          <a:prstGeom prst="rect">
            <a:avLst/>
          </a:prstGeom>
          <a:solidFill>
            <a:srgbClr val="E8F5E9"/>
          </a:solidFill>
          <a:ln w="25400">
            <a:solidFill>
              <a:srgbClr val="2E7D32"/>
            </a:solidFill>
            <a:prstDash val="solid"/>
          </a:ln>
        </p:spPr>
      </p:sp>
      <p:sp>
        <p:nvSpPr>
          <p:cNvPr id="5" name="Text 3"/>
          <p:cNvSpPr/>
          <p:nvPr/>
        </p:nvSpPr>
        <p:spPr>
          <a:xfrm>
            <a:off x="640080" y="1234440"/>
            <a:ext cx="7863840" cy="1645920"/>
          </a:xfrm>
          <a:prstGeom prst="rect">
            <a:avLst/>
          </a:prstGeom>
          <a:noFill/>
          <a:ln/>
        </p:spPr>
        <p:txBody>
          <a:bodyPr wrap="square" rtlCol="0" anchor="ctr"/>
          <a:lstStyle/>
          <a:p>
            <a:pPr indent="0" marL="0">
              <a:buNone/>
            </a:pPr>
            <a:r>
              <a:rPr lang="en-US" sz="1150" dirty="0">
                <a:solidFill>
                  <a:srgbClr val="2E7D32"/>
                </a:solidFill>
                <a:latin typeface="Calibri" pitchFamily="34" charset="0"/>
                <a:ea typeface="Calibri" pitchFamily="34" charset="-122"/>
                <a:cs typeface="Calibri" pitchFamily="34" charset="-120"/>
              </a:rPr>
              <a:t>Financial institutions face significant challenges in managing credit risk as default rates directly impact profitability and portfolio health. Traditional credit scoring methods rely on limited variables and fail to capture complex behavioral patterns in payment history. By analyzing 30,000 clients with 24 features covering demographics, credit limits, and six months of payment and billing history, we can build a machine learning model that accurately predicts credit card default. This enables proactive risk intervention, smarter lending decisions, and reduced financial losses for banks and credit providers.</a:t>
            </a:r>
            <a:endParaRPr lang="en-US" sz="1150" dirty="0"/>
          </a:p>
        </p:txBody>
      </p:sp>
      <p:sp>
        <p:nvSpPr>
          <p:cNvPr id="6" name="Text 4"/>
          <p:cNvSpPr/>
          <p:nvPr/>
        </p:nvSpPr>
        <p:spPr>
          <a:xfrm>
            <a:off x="640080" y="3154680"/>
            <a:ext cx="7863840" cy="274320"/>
          </a:xfrm>
          <a:prstGeom prst="rect">
            <a:avLst/>
          </a:prstGeom>
          <a:noFill/>
          <a:ln/>
        </p:spPr>
        <p:txBody>
          <a:bodyPr wrap="square" rtlCol="0" anchor="ctr"/>
          <a:lstStyle/>
          <a:p>
            <a:pPr indent="0" marL="0">
              <a:buNone/>
            </a:pPr>
            <a:r>
              <a:rPr lang="en-US" sz="1300" b="1" dirty="0">
                <a:solidFill>
                  <a:srgbClr val="212121"/>
                </a:solidFill>
                <a:latin typeface="Calibri" pitchFamily="34" charset="0"/>
                <a:ea typeface="Calibri" pitchFamily="34" charset="-122"/>
                <a:cs typeface="Calibri" pitchFamily="34" charset="-120"/>
              </a:rPr>
              <a:t>Project Goals:</a:t>
            </a:r>
            <a:endParaRPr lang="en-US" sz="1300" dirty="0"/>
          </a:p>
        </p:txBody>
      </p:sp>
      <p:sp>
        <p:nvSpPr>
          <p:cNvPr id="7" name="Text 5"/>
          <p:cNvSpPr/>
          <p:nvPr/>
        </p:nvSpPr>
        <p:spPr>
          <a:xfrm>
            <a:off x="822960" y="3520440"/>
            <a:ext cx="7772400" cy="301752"/>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Build binary classification model to predict credit card default</a:t>
            </a:r>
            <a:endParaRPr lang="en-US" sz="1100" dirty="0"/>
          </a:p>
        </p:txBody>
      </p:sp>
      <p:sp>
        <p:nvSpPr>
          <p:cNvPr id="8" name="Text 6"/>
          <p:cNvSpPr/>
          <p:nvPr/>
        </p:nvSpPr>
        <p:spPr>
          <a:xfrm>
            <a:off x="822960" y="3913632"/>
            <a:ext cx="7772400" cy="301752"/>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Leverage 24 features: demographics, credit limit, 6-month payment history</a:t>
            </a:r>
            <a:endParaRPr lang="en-US" sz="1100" dirty="0"/>
          </a:p>
        </p:txBody>
      </p:sp>
      <p:sp>
        <p:nvSpPr>
          <p:cNvPr id="9" name="Text 7"/>
          <p:cNvSpPr/>
          <p:nvPr/>
        </p:nvSpPr>
        <p:spPr>
          <a:xfrm>
            <a:off x="822960" y="4306824"/>
            <a:ext cx="7772400" cy="301752"/>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Achieve 75%+ accuracy in identifying high-risk clients</a:t>
            </a:r>
            <a:endParaRPr lang="en-US" sz="1100" dirty="0"/>
          </a:p>
        </p:txBody>
      </p:sp>
      <p:sp>
        <p:nvSpPr>
          <p:cNvPr id="10" name="Text 8"/>
          <p:cNvSpPr/>
          <p:nvPr/>
        </p:nvSpPr>
        <p:spPr>
          <a:xfrm>
            <a:off x="822960" y="4700016"/>
            <a:ext cx="7772400" cy="301752"/>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Handle class imbalance (78% vs 22%) using SMOTE or class weights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p:spPr>
      </p:sp>
      <p:sp>
        <p:nvSpPr>
          <p:cNvPr id="3" name="Text 1"/>
          <p:cNvSpPr/>
          <p:nvPr/>
        </p:nvSpPr>
        <p:spPr>
          <a:xfrm>
            <a:off x="457200" y="18288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Problem 2: EDA Findings</a:t>
            </a:r>
            <a:endParaRPr lang="en-US" sz="3000" dirty="0"/>
          </a:p>
        </p:txBody>
      </p:sp>
      <p:sp>
        <p:nvSpPr>
          <p:cNvPr id="4" name="Shape 2"/>
          <p:cNvSpPr/>
          <p:nvPr/>
        </p:nvSpPr>
        <p:spPr>
          <a:xfrm>
            <a:off x="457200" y="1097280"/>
            <a:ext cx="3931920" cy="2743200"/>
          </a:xfrm>
          <a:prstGeom prst="rect">
            <a:avLst/>
          </a:prstGeom>
          <a:solidFill>
            <a:srgbClr val="F5F5F5"/>
          </a:solidFill>
          <a:ln w="12700">
            <a:solidFill>
              <a:srgbClr val="2E7D32"/>
            </a:solidFill>
            <a:prstDash val="solid"/>
          </a:ln>
        </p:spPr>
      </p:sp>
      <p:sp>
        <p:nvSpPr>
          <p:cNvPr id="5" name="Text 3"/>
          <p:cNvSpPr/>
          <p:nvPr/>
        </p:nvSpPr>
        <p:spPr>
          <a:xfrm>
            <a:off x="640080" y="1280160"/>
            <a:ext cx="3566160" cy="274320"/>
          </a:xfrm>
          <a:prstGeom prst="rect">
            <a:avLst/>
          </a:prstGeom>
          <a:noFill/>
          <a:ln/>
        </p:spPr>
        <p:txBody>
          <a:bodyPr wrap="square"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Target Distribution:</a:t>
            </a:r>
            <a:endParaRPr lang="en-US" sz="1200" dirty="0"/>
          </a:p>
        </p:txBody>
      </p:sp>
      <p:sp>
        <p:nvSpPr>
          <p:cNvPr id="6" name="Text 4"/>
          <p:cNvSpPr/>
          <p:nvPr/>
        </p:nvSpPr>
        <p:spPr>
          <a:xfrm>
            <a:off x="914400" y="1691640"/>
            <a:ext cx="3291840" cy="347472"/>
          </a:xfrm>
          <a:prstGeom prst="rect">
            <a:avLst/>
          </a:prstGeom>
          <a:noFill/>
          <a:ln/>
        </p:spPr>
        <p:txBody>
          <a:bodyPr wrap="square" rtlCol="0" anchor="ctr"/>
          <a:lstStyle/>
          <a:p>
            <a:pPr indent="0" marL="0">
              <a:buNone/>
            </a:pPr>
            <a:r>
              <a:rPr lang="en-US" sz="1200" b="1" dirty="0">
                <a:solidFill>
                  <a:srgbClr val="212121"/>
                </a:solidFill>
                <a:latin typeface="Calibri" pitchFamily="34" charset="0"/>
                <a:ea typeface="Calibri" pitchFamily="34" charset="-122"/>
                <a:cs typeface="Calibri" pitchFamily="34" charset="-120"/>
              </a:rPr>
              <a:t>No Default (0): 77.9% (23,364)</a:t>
            </a:r>
            <a:endParaRPr lang="en-US" sz="1200" dirty="0"/>
          </a:p>
        </p:txBody>
      </p:sp>
      <p:sp>
        <p:nvSpPr>
          <p:cNvPr id="7" name="Text 5"/>
          <p:cNvSpPr/>
          <p:nvPr/>
        </p:nvSpPr>
        <p:spPr>
          <a:xfrm>
            <a:off x="914400" y="2148840"/>
            <a:ext cx="3291840" cy="347472"/>
          </a:xfrm>
          <a:prstGeom prst="rect">
            <a:avLst/>
          </a:prstGeom>
          <a:noFill/>
          <a:ln/>
        </p:spPr>
        <p:txBody>
          <a:bodyPr wrap="square" rtlCol="0" anchor="ctr"/>
          <a:lstStyle/>
          <a:p>
            <a:pPr indent="0" marL="0">
              <a:buNone/>
            </a:pPr>
            <a:r>
              <a:rPr lang="en-US" sz="1200" b="1" dirty="0">
                <a:solidFill>
                  <a:srgbClr val="212121"/>
                </a:solidFill>
                <a:latin typeface="Calibri" pitchFamily="34" charset="0"/>
                <a:ea typeface="Calibri" pitchFamily="34" charset="-122"/>
                <a:cs typeface="Calibri" pitchFamily="34" charset="-120"/>
              </a:rPr>
              <a:t>Default (1): 22.1% (6,636)</a:t>
            </a:r>
            <a:endParaRPr lang="en-US" sz="1200" dirty="0"/>
          </a:p>
        </p:txBody>
      </p:sp>
      <p:sp>
        <p:nvSpPr>
          <p:cNvPr id="8" name="Text 6"/>
          <p:cNvSpPr/>
          <p:nvPr/>
        </p:nvSpPr>
        <p:spPr>
          <a:xfrm>
            <a:off x="640080" y="3383280"/>
            <a:ext cx="3566160" cy="320040"/>
          </a:xfrm>
          <a:prstGeom prst="rect">
            <a:avLst/>
          </a:prstGeom>
          <a:noFill/>
          <a:ln/>
        </p:spPr>
        <p:txBody>
          <a:bodyPr wrap="square" rtlCol="0" anchor="ctr"/>
          <a:lstStyle/>
          <a:p>
            <a:pPr indent="0" marL="0">
              <a:buNone/>
            </a:pPr>
            <a:r>
              <a:rPr lang="en-US" sz="1000" i="1" dirty="0">
                <a:solidFill>
                  <a:srgbClr val="212121"/>
                </a:solidFill>
                <a:latin typeface="Calibri" pitchFamily="34" charset="0"/>
                <a:ea typeface="Calibri" pitchFamily="34" charset="-122"/>
                <a:cs typeface="Calibri" pitchFamily="34" charset="-120"/>
              </a:rPr>
              <a:t>class imbalance - use SMOTE or class weights</a:t>
            </a:r>
            <a:endParaRPr lang="en-US" sz="1000" dirty="0"/>
          </a:p>
        </p:txBody>
      </p:sp>
      <p:sp>
        <p:nvSpPr>
          <p:cNvPr id="9" name="Shape 7"/>
          <p:cNvSpPr/>
          <p:nvPr/>
        </p:nvSpPr>
        <p:spPr>
          <a:xfrm>
            <a:off x="4754880" y="1097280"/>
            <a:ext cx="3931920" cy="2743200"/>
          </a:xfrm>
          <a:prstGeom prst="rect">
            <a:avLst/>
          </a:prstGeom>
          <a:solidFill>
            <a:srgbClr val="F5F5F5"/>
          </a:solidFill>
          <a:ln w="12700">
            <a:solidFill>
              <a:srgbClr val="2E7D32"/>
            </a:solidFill>
            <a:prstDash val="solid"/>
          </a:ln>
        </p:spPr>
      </p:sp>
      <p:sp>
        <p:nvSpPr>
          <p:cNvPr id="10" name="Text 8"/>
          <p:cNvSpPr/>
          <p:nvPr/>
        </p:nvSpPr>
        <p:spPr>
          <a:xfrm>
            <a:off x="4937760" y="1280160"/>
            <a:ext cx="3566160" cy="274320"/>
          </a:xfrm>
          <a:prstGeom prst="rect">
            <a:avLst/>
          </a:prstGeom>
          <a:noFill/>
          <a:ln/>
        </p:spPr>
        <p:txBody>
          <a:bodyPr wrap="square"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Data Quality:</a:t>
            </a:r>
            <a:endParaRPr lang="en-US" sz="1200" dirty="0"/>
          </a:p>
        </p:txBody>
      </p:sp>
      <p:sp>
        <p:nvSpPr>
          <p:cNvPr id="11" name="Text 9"/>
          <p:cNvSpPr/>
          <p:nvPr/>
        </p:nvSpPr>
        <p:spPr>
          <a:xfrm>
            <a:off x="5120640" y="1691640"/>
            <a:ext cx="3383280" cy="320040"/>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30,000 clients | 25 columns</a:t>
            </a:r>
            <a:endParaRPr lang="en-US" sz="1100" dirty="0"/>
          </a:p>
        </p:txBody>
      </p:sp>
      <p:sp>
        <p:nvSpPr>
          <p:cNvPr id="12" name="Text 10"/>
          <p:cNvSpPr/>
          <p:nvPr/>
        </p:nvSpPr>
        <p:spPr>
          <a:xfrm>
            <a:off x="5120640" y="2103120"/>
            <a:ext cx="3383280" cy="320040"/>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24 numerical features</a:t>
            </a:r>
            <a:endParaRPr lang="en-US" sz="1100" dirty="0"/>
          </a:p>
        </p:txBody>
      </p:sp>
      <p:sp>
        <p:nvSpPr>
          <p:cNvPr id="13" name="Text 11"/>
          <p:cNvSpPr/>
          <p:nvPr/>
        </p:nvSpPr>
        <p:spPr>
          <a:xfrm>
            <a:off x="5120640" y="2514600"/>
            <a:ext cx="3383280" cy="320040"/>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0 categorical features</a:t>
            </a:r>
            <a:endParaRPr lang="en-US" sz="1100" dirty="0"/>
          </a:p>
        </p:txBody>
      </p:sp>
      <p:sp>
        <p:nvSpPr>
          <p:cNvPr id="14" name="Text 12"/>
          <p:cNvSpPr/>
          <p:nvPr/>
        </p:nvSpPr>
        <p:spPr>
          <a:xfrm>
            <a:off x="5120640" y="2926080"/>
            <a:ext cx="3383280" cy="320040"/>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0 missing values (100%)</a:t>
            </a:r>
            <a:endParaRPr lang="en-US" sz="1100" dirty="0"/>
          </a:p>
        </p:txBody>
      </p:sp>
      <p:sp>
        <p:nvSpPr>
          <p:cNvPr id="15" name="Text 13"/>
          <p:cNvSpPr/>
          <p:nvPr/>
        </p:nvSpPr>
        <p:spPr>
          <a:xfrm>
            <a:off x="640080" y="4023360"/>
            <a:ext cx="2743200" cy="274320"/>
          </a:xfrm>
          <a:prstGeom prst="rect">
            <a:avLst/>
          </a:prstGeom>
          <a:noFill/>
          <a:ln/>
        </p:spPr>
        <p:txBody>
          <a:bodyPr wrap="square"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Missing Values:</a:t>
            </a:r>
            <a:endParaRPr lang="en-US" sz="1200" dirty="0"/>
          </a:p>
        </p:txBody>
      </p:sp>
      <p:sp>
        <p:nvSpPr>
          <p:cNvPr id="16" name="Text 14"/>
          <p:cNvSpPr/>
          <p:nvPr/>
        </p:nvSpPr>
        <p:spPr>
          <a:xfrm>
            <a:off x="3474720" y="4023360"/>
            <a:ext cx="5212080" cy="274320"/>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None - all 25 columns complete</a:t>
            </a:r>
            <a:endParaRPr lang="en-US" sz="1100" dirty="0"/>
          </a:p>
        </p:txBody>
      </p:sp>
      <p:sp>
        <p:nvSpPr>
          <p:cNvPr id="17" name="Text 15"/>
          <p:cNvSpPr/>
          <p:nvPr/>
        </p:nvSpPr>
        <p:spPr>
          <a:xfrm>
            <a:off x="640080" y="4434840"/>
            <a:ext cx="2743200" cy="274320"/>
          </a:xfrm>
          <a:prstGeom prst="rect">
            <a:avLst/>
          </a:prstGeom>
          <a:noFill/>
          <a:ln/>
        </p:spPr>
        <p:txBody>
          <a:bodyPr wrap="square"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Outliers:</a:t>
            </a:r>
            <a:endParaRPr lang="en-US" sz="1200" dirty="0"/>
          </a:p>
        </p:txBody>
      </p:sp>
      <p:sp>
        <p:nvSpPr>
          <p:cNvPr id="18" name="Text 16"/>
          <p:cNvSpPr/>
          <p:nvPr/>
        </p:nvSpPr>
        <p:spPr>
          <a:xfrm>
            <a:off x="3474720" y="4434840"/>
            <a:ext cx="5212080" cy="365760"/>
          </a:xfrm>
          <a:prstGeom prst="rect">
            <a:avLst/>
          </a:prstGeom>
          <a:noFill/>
          <a:ln/>
        </p:spPr>
        <p:txBody>
          <a:bodyPr wrap="square" rtlCol="0" anchor="ctr"/>
          <a:lstStyle/>
          <a:p>
            <a:pPr indent="0" marL="0">
              <a:buNone/>
            </a:pPr>
            <a:r>
              <a:rPr lang="en-US" sz="1100" dirty="0">
                <a:solidFill>
                  <a:srgbClr val="212121"/>
                </a:solidFill>
                <a:latin typeface="Calibri" pitchFamily="34" charset="0"/>
                <a:ea typeface="Calibri" pitchFamily="34" charset="-122"/>
                <a:cs typeface="Calibri" pitchFamily="34" charset="-120"/>
              </a:rPr>
              <a:t>Present in credit limit and bill amounts - expected for wide client range</a:t>
            </a:r>
            <a:endParaRPr lang="en-US" sz="1100" dirty="0"/>
          </a:p>
        </p:txBody>
      </p:sp>
      <p:sp>
        <p:nvSpPr>
          <p:cNvPr id="19" name="Text 17"/>
          <p:cNvSpPr/>
          <p:nvPr/>
        </p:nvSpPr>
        <p:spPr>
          <a:xfrm>
            <a:off x="640080" y="5074920"/>
            <a:ext cx="7863840" cy="32004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Key Insight: Payment history (PAY_0 to PAY_6) is the strongest predictor of default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2026-06-21T15:47:57Z</dcterms:created>
  <dcterms:modified xsi:type="dcterms:W3CDTF">2026-06-21T15:47:57Z</dcterms:modified>
</cp:coreProperties>
</file>